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E6ED4-4E36-0CDD-A019-67AF80D7D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DA DISCIPLINA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57DA15-DDDF-8ABF-E9B1-84AE951D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5280847"/>
            <a:ext cx="11609859" cy="1368528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Vinícius Figueiredo</a:t>
            </a:r>
          </a:p>
          <a:p>
            <a:r>
              <a:rPr lang="pt-BR" dirty="0"/>
              <a:t>Júlio Cesar</a:t>
            </a:r>
          </a:p>
          <a:p>
            <a:r>
              <a:rPr lang="pt-BR" dirty="0"/>
              <a:t>Caio Pereira</a:t>
            </a:r>
          </a:p>
          <a:p>
            <a:r>
              <a:rPr lang="pt-BR" dirty="0"/>
              <a:t>Arthur </a:t>
            </a:r>
          </a:p>
        </p:txBody>
      </p:sp>
    </p:spTree>
    <p:extLst>
      <p:ext uri="{BB962C8B-B14F-4D97-AF65-F5344CB8AC3E}">
        <p14:creationId xmlns:p14="http://schemas.microsoft.com/office/powerpoint/2010/main" val="346485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40F60-AE6E-4EE3-10C0-4D9581B2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Objetivo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AF5FF-F81C-78F8-0383-A0C1C5FEC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de Biblioteca Digital tem como objetivo oferecer uma plataforma prática e organizada para gerenciamento de livros e empréstimos.</a:t>
            </a:r>
          </a:p>
          <a:p>
            <a:r>
              <a:rPr lang="pt-BR" dirty="0"/>
              <a:t> Ele permite que usuários pesquisem, reservem e realizem empréstimos de obras, enquanto administradores gerenciam acervo, categorias, relatórios e notificações. </a:t>
            </a:r>
          </a:p>
          <a:p>
            <a:r>
              <a:rPr lang="pt-BR" dirty="0"/>
              <a:t>O sistema inclui cadastro de usuários, busca avançada, reservas, renovação, histórico, avaliações e geração de relatórios, priorizando alta disponibilidade, segurança, desempenho e interface responsiva para desktop e mobile.</a:t>
            </a:r>
          </a:p>
        </p:txBody>
      </p:sp>
    </p:spTree>
    <p:extLst>
      <p:ext uri="{BB962C8B-B14F-4D97-AF65-F5344CB8AC3E}">
        <p14:creationId xmlns:p14="http://schemas.microsoft.com/office/powerpoint/2010/main" val="6699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6A8F7-DD5B-AD51-4C6E-31AA496B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Público Alvo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D90D8E-0B68-C4D8-7EF9-9E7063BD5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de Biblioteca Digital é direcionado a usuários que necessitam consultar, reservar e emprestar livros de forma prática, incluindo estudantes, professores, pesquisadores e leitores em geral interessados no acesso rápido a obras físicas ou digitais. Também atende bibliotecários e administradores responsáveis pela gestão do acervo, controle de empréstimos, emissão de relatórios, organização de categorias e manutenção da operação da biblioteca. Vale ressaltar também que beneficia instituições educacionais, bibliotecas públicas, universidades e centros de pesquisa que buscam uma plataforma moderna, segura e escalável para gerenciamento de acervos e serviços bibliotecários.</a:t>
            </a:r>
          </a:p>
        </p:txBody>
      </p:sp>
    </p:spTree>
    <p:extLst>
      <p:ext uri="{BB962C8B-B14F-4D97-AF65-F5344CB8AC3E}">
        <p14:creationId xmlns:p14="http://schemas.microsoft.com/office/powerpoint/2010/main" val="32417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E3F6D-5222-E647-461B-663D4AB6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4E70A-0B1D-D8C6-C199-70572BAEF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5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30A8C-8BCD-45A4-D556-A444DCD4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Utilizados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D474254-55C2-7D67-8C35-9CC58CEEE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980" b="35328"/>
          <a:stretch>
            <a:fillRect/>
          </a:stretch>
        </p:blipFill>
        <p:spPr>
          <a:xfrm>
            <a:off x="3043455" y="2148397"/>
            <a:ext cx="5425842" cy="4350058"/>
          </a:xfrm>
        </p:spPr>
      </p:pic>
    </p:spTree>
    <p:extLst>
      <p:ext uri="{BB962C8B-B14F-4D97-AF65-F5344CB8AC3E}">
        <p14:creationId xmlns:p14="http://schemas.microsoft.com/office/powerpoint/2010/main" val="144027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78D3C-8570-20DA-A346-8C939F52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Diagramas Utilizados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FC79853-5228-E503-E1D2-85590BF03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214" b="34667"/>
          <a:stretch>
            <a:fillRect/>
          </a:stretch>
        </p:blipFill>
        <p:spPr>
          <a:xfrm>
            <a:off x="3416317" y="2201662"/>
            <a:ext cx="4999714" cy="4038560"/>
          </a:xfrm>
        </p:spPr>
      </p:pic>
    </p:spTree>
    <p:extLst>
      <p:ext uri="{BB962C8B-B14F-4D97-AF65-F5344CB8AC3E}">
        <p14:creationId xmlns:p14="http://schemas.microsoft.com/office/powerpoint/2010/main" val="2673195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B096D-9392-F167-1404-3D8D7F4C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45ED5-F13B-CF2E-F473-9392E7F5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08718"/>
            <a:ext cx="10554574" cy="3636511"/>
          </a:xfrm>
        </p:spPr>
        <p:txBody>
          <a:bodyPr/>
          <a:lstStyle/>
          <a:p>
            <a:r>
              <a:rPr lang="pt-BR" dirty="0"/>
              <a:t>O sistema adota uma arquitetura em camadas (</a:t>
            </a:r>
            <a:r>
              <a:rPr lang="pt-BR" dirty="0" err="1"/>
              <a:t>Layered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) que separa a interface do usuário, a lógica de negócio e a persistência de dados, garantindo modularidade, manutenção mais fácil e escalabilidade. A camada de apresentação é responsável pela interação com os usuários, oferecendo uma interface web responsiva e intuitiva, tanto para desktop quanto para dispositivos móveis. A camada de aplicação, ou de serviços, concentra toda a lógica de negócio, incluindo gerenciamento de usuários, livros, empréstimos, reservas, notificações e geração de relatórios. Por fim, a camada de persistência gerencia o armazenamento e recuperação de dados no banco de dados, garantindo integridade, segurança e suporte a backups automáticos. Essa estrutura permite que cada camada evolua independentemente, facilita testes unitários e integração, e assegura que requisitos de desempenho e disponibilidade sejam atendidos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329953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87099-A8E5-6D43-C776-B215064D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CAB12B-6446-8836-08A4-F57400FBE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principais componentes utilizados foram: </a:t>
            </a:r>
          </a:p>
          <a:p>
            <a:endParaRPr lang="pt-BR" dirty="0"/>
          </a:p>
          <a:p>
            <a:r>
              <a:rPr lang="pt-BR" dirty="0"/>
              <a:t>Tecnologias e frameworks utilizados:</a:t>
            </a:r>
          </a:p>
        </p:txBody>
      </p:sp>
    </p:spTree>
    <p:extLst>
      <p:ext uri="{BB962C8B-B14F-4D97-AF65-F5344CB8AC3E}">
        <p14:creationId xmlns:p14="http://schemas.microsoft.com/office/powerpoint/2010/main" val="272016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B3A77-FBC1-82B8-4224-851B63304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 e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331C31-9032-63A5-D8E5-9A73C29FB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783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105BD-4F1F-E9D0-0A20-6666EB02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Demonstração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A08C58-B852-0585-A55F-67F9D3D57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58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86EBE-B583-1E18-DB23-20F32748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 – Principais Aprendizados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380176-6986-27F9-AE97-9B2DD048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774301"/>
            <a:ext cx="10554574" cy="3636511"/>
          </a:xfrm>
        </p:spPr>
        <p:txBody>
          <a:bodyPr>
            <a:normAutofit fontScale="92500"/>
          </a:bodyPr>
          <a:lstStyle/>
          <a:p>
            <a:r>
              <a:rPr lang="pt-BR" dirty="0"/>
              <a:t>Arquitetura em camadas: A compreensão de como a separação entre apresentação, serviços e persistência melhora manutenção, facilita testes e permite evolução independente de cada módulo.</a:t>
            </a:r>
          </a:p>
          <a:p>
            <a:r>
              <a:rPr lang="pt-BR" dirty="0"/>
              <a:t>Modelagem de Dados Complexa: Aprendizado sobre como estruturar relacionamentos entre usuários, livros, reservas e empréstimos, evitando inconsistências e garantindo integridade.</a:t>
            </a:r>
          </a:p>
          <a:p>
            <a:r>
              <a:rPr lang="pt-BR" dirty="0"/>
              <a:t>Gerenciamento de Concorrência: Compreensão da importância de transações e bloqueios para evitar conflitos em reservas simultâneas.</a:t>
            </a:r>
          </a:p>
          <a:p>
            <a:r>
              <a:rPr lang="pt-BR" dirty="0"/>
              <a:t>Maior domínio de técnicas de proteção como </a:t>
            </a:r>
            <a:r>
              <a:rPr lang="pt-BR" dirty="0" err="1"/>
              <a:t>hashing</a:t>
            </a:r>
            <a:r>
              <a:rPr lang="pt-BR" dirty="0"/>
              <a:t> + sal, criptografia de dados sensíveis e validações contra entradas maliciosas</a:t>
            </a:r>
          </a:p>
          <a:p>
            <a:r>
              <a:rPr lang="pt-BR" dirty="0"/>
              <a:t>Padrões de Desenvolvimento: Uso efetivo de MVC, </a:t>
            </a:r>
            <a:r>
              <a:rPr lang="pt-BR" dirty="0" err="1"/>
              <a:t>DTOs</a:t>
            </a:r>
            <a:r>
              <a:rPr lang="pt-BR" dirty="0"/>
              <a:t> e convenções de projeto para manter desacoplamento e legibilidade.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687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D93FC-5555-FD4F-2F55-25B2BC04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 – Melhorias futuras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4ABD1-1AB0-D59A-1DF8-2D454964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de Recomendação: Utilizar histórico de empréstimos, categorias e avaliações para sugerir livros, aumentando o engajamento dos usuários.</a:t>
            </a:r>
          </a:p>
          <a:p>
            <a:r>
              <a:rPr lang="pt-BR" dirty="0"/>
              <a:t>Relatórios Inteligentes: Incluir métricas avançadas (curva de popularidade, livros ociosos, horários de pico) e exportações mais robustas.</a:t>
            </a:r>
          </a:p>
          <a:p>
            <a:r>
              <a:rPr lang="pt-BR" dirty="0"/>
              <a:t>Notificações Avançadas: Integração com </a:t>
            </a:r>
            <a:r>
              <a:rPr lang="pt-BR" dirty="0" err="1"/>
              <a:t>push</a:t>
            </a:r>
            <a:r>
              <a:rPr lang="pt-BR" dirty="0"/>
              <a:t> </a:t>
            </a:r>
            <a:r>
              <a:rPr lang="pt-BR" dirty="0" err="1"/>
              <a:t>notifications</a:t>
            </a:r>
            <a:r>
              <a:rPr lang="pt-BR" dirty="0"/>
              <a:t>, lembretes automáticos de vencimento, pré-alertas de disponibilidade e personalização por usuário.</a:t>
            </a:r>
          </a:p>
          <a:p>
            <a:r>
              <a:rPr lang="pt-BR" dirty="0"/>
              <a:t>Escalabilidade e Performance: Adotar cache distribuído, otimização de índices, paginação avançada e monitoramento para suportar grande volume de consultas.</a:t>
            </a:r>
          </a:p>
        </p:txBody>
      </p:sp>
    </p:spTree>
    <p:extLst>
      <p:ext uri="{BB962C8B-B14F-4D97-AF65-F5344CB8AC3E}">
        <p14:creationId xmlns:p14="http://schemas.microsoft.com/office/powerpoint/2010/main" val="2324727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4FFAD-943A-10EE-C6E4-7E9225DF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faríamos diferente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76163-0C9F-674B-41AB-63B4E32A9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possibilidade de fazer o projeto, começaríamos com um planejamento mais detalhado da arquitetura e dos requisitos, protótipos iniciais para validar a interface e os fluxos do sistema. Também adotaríamos padrões de código e testes desde o início, garantindo maior qualidade e menos retrabalho.</a:t>
            </a:r>
          </a:p>
          <a:p>
            <a:r>
              <a:rPr lang="pt-BR" dirty="0"/>
              <a:t> A divisão de tarefas seria mais organizada e equilibrada, acompanhada por uma gestão de riscos mais ativa, especialmente em relação à segurança e desempenho. Concluindo, incluiríamos feedback de usuários nas primeiras etapas para ajustar a usabilidade e alinhar melhor o sistema às necessidades reais.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35348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{C6F6D98B-11D0-4B47-A125-9217E903E380}TF422d6a94-b412-4b4b-8b36-ccdb9da8dac83d9bcdfd-6701d28ed7d7</Template>
  <TotalTime>276</TotalTime>
  <Words>697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Century Gothic</vt:lpstr>
      <vt:lpstr>Wingdings 2</vt:lpstr>
      <vt:lpstr>Citável</vt:lpstr>
      <vt:lpstr>PROJETO DA DISCIPLINA</vt:lpstr>
      <vt:lpstr>Introdução e Objetivo do Sistema</vt:lpstr>
      <vt:lpstr>Público Alvo</vt:lpstr>
      <vt:lpstr>Requisitos e Modelagem</vt:lpstr>
      <vt:lpstr>Diagramas Utilizados</vt:lpstr>
      <vt:lpstr>Diagramas Utilizados</vt:lpstr>
      <vt:lpstr>Arquitetura do Sistema</vt:lpstr>
      <vt:lpstr>Implementação</vt:lpstr>
      <vt:lpstr>Testes e Qualidade</vt:lpstr>
      <vt:lpstr>Demonstração</vt:lpstr>
      <vt:lpstr>Conclusões – Principais Aprendizados</vt:lpstr>
      <vt:lpstr>Conclusões – Melhorias futuras</vt:lpstr>
      <vt:lpstr>O que faríamos diferente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3</cp:revision>
  <dcterms:created xsi:type="dcterms:W3CDTF">2025-11-27T01:28:27Z</dcterms:created>
  <dcterms:modified xsi:type="dcterms:W3CDTF">2025-11-28T12:33:35Z</dcterms:modified>
</cp:coreProperties>
</file>