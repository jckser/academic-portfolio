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32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Nosso projeto é um jogo de corrida multiplayer cuja partida é mantida por um cluster de servidores. Nesta segunda etapa, concentramos o trabalho no tratamento de falhas e no controle de réplicas.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um jogo centralizado, a queda do servidor encerra imediatamente a partida. Nosso objetivo foi manter o jogo funcionando mesmo quando o líder falha, utilizando réplicas atualizadas e eleição automática de um novo coordenador.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captura os comandos e renderiza os snapshots. O líder é o único servidor que altera o mundo. Os seguidores recebem cópias completas do estado e ficam preparados para assumir. A comunicação de rede do cliente ocorre em uma thread separada para não bloquear 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primeiro relatório chamamos a comunicação de RPC próprio. A descrição tecnicamente correta é protocolo requisição-resposta JSON sobre TCP, pois não existem stubs, IDL ou geração de interfaces. Entre os servidores utilizamos Lamport para ordenação lógica. Para eleição utilizamos Bully, no qual o maior ID alcançável vence.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snapshot possui líder, termo, versão e estado completo do jogo. O termo identifica uma geração de liderança e impede que um líder antigo volte a sobrescrever o estado. A versão impede regressão dentro do mesmo termo. Cada seguidor responde com a última versão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trata falhas crash-stop, crash-recovery e omissões temporárias. Exigimos três sondagens para evitar eleições provocadas por uma única oscilação. Quando uma réplica cai, a física continua e as tentativas passam a utilizar backoff entre 0,1 e 1,5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nó 10 retorna, ele não deve assumir com um estado vazio. Primeiro recupera o maior par de termo e versão disponível. Depois inicia a eleição. Como possui maior ID, volta a liderar. Esse comportamento é esperado no algoritmo Bully e representa o failback.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Criamos seis testes automatizados, incluindo um teste de integração com processos reais. Também executamos cinco ensaios completos: iniciamos líder e réplica, inserimos um jogador, confirmamos a replicação, derrubamos o líder e medimos até o novo coordenador assumir.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testes passaram e o estado foi preservado nas cinco repetições. Agora mostramos o funcionamento: primeiro o nó 10 lidera; após sua queda, o nó 5 assume sem reiniciar a partida. Quando o nó 10 retorna conectado ao cluster, sincroniza o estado e volta a liderar.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segunda entrega tornou o tratamento de falhas observável e reproduzível. Termos impedem líderes antigos, versões impedem regressões e ACKs mostram a saúde das réplicas. Como próximos passos, pretendemos utilizar três nós com quorum, persistência e testes em redes reais. Ao final, reservem aproximadamente 30 segundos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1F"/>
          </a:solidFill>
          <a:ln w="12700">
            <a:solidFill>
              <a:srgbClr val="0913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565392"/>
            <a:ext cx="11567160" cy="0"/>
          </a:xfrm>
          <a:prstGeom prst="line">
            <a:avLst/>
          </a:prstGeom>
          <a:noFill/>
          <a:ln w="12700">
            <a:solidFill>
              <a:srgbClr val="203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62025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90A5"/>
                </a:solidFill>
              </a:rPr>
              <a:t>Computação Distribuída • Jogo de Corrida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772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Jogo de Corrida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Distribuído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2677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D5FF"/>
                </a:solidFill>
              </a:rPr>
              <a:t>Tratamento de Falhas e Controle de Réplicas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2788919"/>
            <a:ext cx="6080760" cy="640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20" dirty="0">
                <a:solidFill>
                  <a:srgbClr val="B7C4D6"/>
                </a:solidFill>
              </a:rPr>
              <a:t>Computação </a:t>
            </a:r>
            <a:r>
              <a:rPr lang="en-US" sz="1320" dirty="0" err="1">
                <a:solidFill>
                  <a:srgbClr val="B7C4D6"/>
                </a:solidFill>
              </a:rPr>
              <a:t>Distribuída</a:t>
            </a:r>
            <a:r>
              <a:rPr lang="en-US" sz="1320" dirty="0">
                <a:solidFill>
                  <a:srgbClr val="B7C4D6"/>
                </a:solidFill>
              </a:rPr>
              <a:t> • PUC Minas</a:t>
            </a:r>
          </a:p>
          <a:p>
            <a:br>
              <a:rPr lang="en-US" sz="1320" dirty="0">
                <a:solidFill>
                  <a:srgbClr val="B7C4D6"/>
                </a:solidFill>
              </a:rPr>
            </a:br>
            <a:r>
              <a:rPr lang="en-US" sz="1320" dirty="0">
                <a:solidFill>
                  <a:srgbClr val="B7C4D6"/>
                </a:solidFill>
              </a:rPr>
              <a:t>Bernardo </a:t>
            </a:r>
            <a:r>
              <a:rPr lang="en-US" sz="1320" dirty="0" err="1">
                <a:solidFill>
                  <a:srgbClr val="B7C4D6"/>
                </a:solidFill>
              </a:rPr>
              <a:t>Temponi</a:t>
            </a:r>
            <a:r>
              <a:rPr lang="en-US" sz="1320" dirty="0">
                <a:solidFill>
                  <a:srgbClr val="B7C4D6"/>
                </a:solidFill>
              </a:rPr>
              <a:t>, Gabriel Schlegel, Júlio César, Lucas Cabral,</a:t>
            </a:r>
          </a:p>
          <a:p>
            <a:r>
              <a:rPr lang="en-US" sz="1320" dirty="0">
                <a:solidFill>
                  <a:srgbClr val="B7C4D6"/>
                </a:solidFill>
              </a:rPr>
              <a:t>Pedro Gaioso, Priscila Goulart, Rafael </a:t>
            </a:r>
            <a:r>
              <a:rPr lang="en-US" sz="1320" dirty="0" err="1">
                <a:solidFill>
                  <a:srgbClr val="B7C4D6"/>
                </a:solidFill>
              </a:rPr>
              <a:t>Vilefort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8503920" y="960120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58E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0" y="121615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93608" y="203911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58E6A7"/>
                </a:solidFill>
              </a:rPr>
              <a:t>líder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7360920" y="2880360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31363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0608" y="3959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8D5FF"/>
                </a:solidFill>
              </a:rPr>
              <a:t>réplica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9646920" y="2880360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6920" y="31363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36608" y="3959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7C948"/>
                </a:solidFill>
              </a:rPr>
              <a:t>cliente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76656" y="3657600"/>
            <a:ext cx="4114800" cy="0"/>
          </a:xfrm>
          <a:prstGeom prst="line">
            <a:avLst/>
          </a:prstGeom>
          <a:noFill/>
          <a:ln w="2540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 objetivo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Por que a replicação é necessária no jogo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344168"/>
            <a:ext cx="4764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</a:rPr>
              <a:t>PROBLEMA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4764024" cy="0"/>
          </a:xfrm>
          <a:prstGeom prst="line">
            <a:avLst/>
          </a:prstGeom>
          <a:noFill/>
          <a:ln w="15240">
            <a:solidFill>
              <a:srgbClr val="FF6B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1709928"/>
            <a:ext cx="476402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do servidor interrompe a partida
</a:t>
            </a:r>
            <a:r>
              <a:rPr lang="en-US" sz="14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Jogadores precisam observar o mesmo estado
</a:t>
            </a:r>
            <a:r>
              <a:rPr lang="en-US" sz="14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 podem chegar em ordens diferentes
</a:t>
            </a:r>
            <a:r>
              <a:rPr lang="en-US" sz="14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precisa continuar após falhas
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446520" y="1143000"/>
            <a:ext cx="5166360" cy="3383280"/>
          </a:xfrm>
          <a:prstGeom prst="roundRect">
            <a:avLst>
              <a:gd name="adj" fmla="val 3243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47688" y="1344168"/>
            <a:ext cx="4764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OBJETIVO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47688" y="1591056"/>
            <a:ext cx="476402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47688" y="1709928"/>
            <a:ext cx="476402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a partida disponível
</a:t>
            </a:r>
            <a:r>
              <a:rPr lang="en-US" sz="142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o estado do jogo
</a:t>
            </a:r>
            <a:r>
              <a:rPr lang="en-US" sz="142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Trocar o líder automaticamente
</a:t>
            </a:r>
            <a:r>
              <a:rPr lang="en-US" sz="142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que réplicas assumam sem reinício
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Em uma arquitetura centralizada, a queda do servidor encerra a partida. A solução proposta mantém réplicas atualizadas e elege automaticamente um novo coordenador, preservando posição dos jogadores e continuidade do jogo.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Cliente, líder, seguidores e snapshots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ENTIDADES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53896"/>
            <a:ext cx="307238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307238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Pygame
</a:t>
            </a:r>
            <a:r>
              <a:rPr lang="en-US" sz="13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 líder
</a:t>
            </a:r>
            <a:r>
              <a:rPr lang="en-US" sz="13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Nós seguidores
</a:t>
            </a:r>
            <a:r>
              <a:rPr lang="en-US" sz="13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Comunicação em thread separada
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4434840" y="2212848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212848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58E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10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01000" y="188366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0" y="2816352"/>
            <a:ext cx="1024128" cy="1024128"/>
          </a:xfrm>
          <a:prstGeom prst="ellipse">
            <a:avLst/>
          </a:prstGeom>
          <a:solidFill>
            <a:srgbClr val="0E2034"/>
          </a:solidFill>
          <a:ln w="1905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1000" y="307238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</a:rPr>
              <a:t>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89720" y="1005840"/>
            <a:ext cx="2423160" cy="3657600"/>
          </a:xfrm>
          <a:prstGeom prst="roundRect">
            <a:avLst>
              <a:gd name="adj" fmla="val 4528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90888" y="120700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FUNCIONAMENTO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90888" y="1453896"/>
            <a:ext cx="202082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90888" y="1572768"/>
            <a:ext cx="202082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Física a 60 Hz
</a:t>
            </a:r>
            <a:r>
              <a:rPr lang="en-US" sz="118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cerca de 15 vezes por segundo
</a:t>
            </a:r>
            <a:r>
              <a:rPr lang="en-US" sz="118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em hot standby
</a:t>
            </a:r>
            <a:r>
              <a:rPr lang="en-US" sz="118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reconecta automaticamente
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O cliente captura comandos e renderiza snapshots. O líder é o único que altera o mundo; seguidores recebem cópias completas do estado e ficam prontos para assumir em caso de falha.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0E7AA8D-351E-8C8C-2042-BF100EC006D0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5458968" y="2724912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41CBC9A-B470-6C01-2A38-8ADDEE177FBE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7059168" y="2139696"/>
            <a:ext cx="941832" cy="58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9CB3BF1-F1E7-E4CC-A50F-C962A47E249A}"/>
              </a:ext>
            </a:extLst>
          </p:cNvPr>
          <p:cNvCxnSpPr>
            <a:cxnSpLocks/>
            <a:stCxn id="12" idx="6"/>
            <a:endCxn id="17" idx="1"/>
          </p:cNvCxnSpPr>
          <p:nvPr/>
        </p:nvCxnSpPr>
        <p:spPr>
          <a:xfrm>
            <a:off x="7059168" y="2724912"/>
            <a:ext cx="941832" cy="46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Comunicação, Lamport e Bully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Base técnica da primeira etapa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25272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PROTOCOLO DE COMUNICAÇÃO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99616"/>
            <a:ext cx="503834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618488"/>
            <a:ext cx="5038344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Requisição-resposta sobre TCP
</a:t>
            </a:r>
            <a:r>
              <a:rPr lang="en-US" sz="131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 JSON delimitadas por quebra de linha
</a:t>
            </a:r>
            <a:r>
              <a:rPr lang="en-US" sz="131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UUID correlaciona requisições e respostas
</a:t>
            </a:r>
            <a:r>
              <a:rPr lang="en-US" sz="131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é RPC convencional nem gRPC
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01968" y="1252728"/>
            <a:ext cx="480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ALGORITMOS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1499616"/>
            <a:ext cx="480974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618488"/>
            <a:ext cx="4809744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Relógio lógico de Lamport entre servidores
</a:t>
            </a:r>
            <a:r>
              <a:rPr lang="en-US" sz="131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Ordenação lógica de eventos distribuídos
</a:t>
            </a:r>
            <a:r>
              <a:rPr lang="en-US" sz="131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Eleição de líder pelo algoritmo Bully
</a:t>
            </a:r>
            <a:r>
              <a:rPr lang="en-US" sz="131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1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ID alcançável vence a eleição
</a:t>
            </a:r>
            <a:endParaRPr lang="en-US" sz="1310" dirty="0"/>
          </a:p>
        </p:txBody>
      </p:sp>
      <p:sp>
        <p:nvSpPr>
          <p:cNvPr id="14" name="Shape 12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A descrição mais correta é protocolo requisição-resposta JSON sobre TCP. Não há stubs, IDL ou geração de interfaces. Lamport apoia a ordenação lógica; Bully define o coordenador pelo maior ID ativo.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 de réplicas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Modelo primário-réplica da segunda entrega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3794760" cy="3749040"/>
          </a:xfrm>
          <a:prstGeom prst="roundRect">
            <a:avLst>
              <a:gd name="adj" fmla="val 2927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REQUISITO ESCOLHIDO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72184"/>
            <a:ext cx="339242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91056"/>
            <a:ext cx="339242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primário-réplica
</a:t>
            </a:r>
            <a:r>
              <a:rPr lang="en-US" sz="129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com estado completo
</a:t>
            </a:r>
            <a:r>
              <a:rPr lang="en-US" sz="129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aplicam o estado recebido
</a:t>
            </a:r>
            <a:r>
              <a:rPr lang="en-US" sz="129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confirma última versão aplicada
</a:t>
            </a:r>
            <a:endParaRPr lang="en-US" sz="1290" dirty="0"/>
          </a:p>
        </p:txBody>
      </p:sp>
      <p:sp>
        <p:nvSpPr>
          <p:cNvPr id="10" name="Shape 8"/>
          <p:cNvSpPr/>
          <p:nvPr/>
        </p:nvSpPr>
        <p:spPr>
          <a:xfrm>
            <a:off x="4526280" y="1024128"/>
            <a:ext cx="3474720" cy="3749040"/>
          </a:xfrm>
          <a:prstGeom prst="roundRect">
            <a:avLst>
              <a:gd name="adj" fmla="val 3158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122529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CONTROLE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27448" y="1472184"/>
            <a:ext cx="307238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27448" y="1591056"/>
            <a:ext cx="307238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9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de liderança
</a:t>
            </a:r>
            <a:r>
              <a:rPr lang="en-US" sz="129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monotônica do estado
</a:t>
            </a:r>
            <a:r>
              <a:rPr lang="en-US" sz="129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snapshots antigos
</a:t>
            </a:r>
            <a:r>
              <a:rPr lang="en-US" sz="129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9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Ressincronização após retorno
</a:t>
            </a:r>
            <a:endParaRPr lang="en-US" sz="1290" dirty="0"/>
          </a:p>
        </p:txBody>
      </p:sp>
      <p:sp>
        <p:nvSpPr>
          <p:cNvPr id="14" name="Shape 12"/>
          <p:cNvSpPr/>
          <p:nvPr/>
        </p:nvSpPr>
        <p:spPr>
          <a:xfrm>
            <a:off x="8183880" y="1024128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5048" y="122529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C948"/>
                </a:solidFill>
              </a:rPr>
              <a:t>PROTEÇÃO DO ESTADO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85048" y="1472184"/>
            <a:ext cx="3026664" cy="0"/>
          </a:xfrm>
          <a:prstGeom prst="line">
            <a:avLst/>
          </a:prstGeom>
          <a:noFill/>
          <a:ln w="15240">
            <a:solidFill>
              <a:srgbClr val="F7C94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85048" y="1591056"/>
            <a:ext cx="302666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evita líder antigo
</a:t>
            </a:r>
            <a:r>
              <a:rPr lang="en-US" sz="124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evita regressão
</a:t>
            </a:r>
            <a:r>
              <a:rPr lang="en-US" sz="124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torna a réplica observável
</a:t>
            </a:r>
            <a:r>
              <a:rPr lang="en-US" sz="124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exige sincronização
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Cada snapshot carrega líder, termo, versão e estado do jogo. O termo identifica a geração da liderança; a versão impede aplicar um estado antigo dentro do mesmo termo.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Tratamento de falhas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Falhas do líder e falhas da réplica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16128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</a:rPr>
              <a:t>FALHA DO LÍDER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08176"/>
            <a:ext cx="5038344" cy="0"/>
          </a:xfrm>
          <a:prstGeom prst="line">
            <a:avLst/>
          </a:prstGeom>
          <a:noFill/>
          <a:ln w="15240">
            <a:solidFill>
              <a:srgbClr val="FF6B6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503834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Watchdog realiza sondagens
</a:t>
            </a:r>
            <a:r>
              <a:rPr lang="en-US" sz="126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falhas consecutivas confirmam a suspeita
</a:t>
            </a:r>
            <a:r>
              <a:rPr lang="en-US" sz="126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eleição Bully é iniciada
</a:t>
            </a:r>
            <a:r>
              <a:rPr lang="en-US" sz="126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 assume a liderança
</a:t>
            </a:r>
            <a:r>
              <a:rPr lang="en-US" sz="126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encontra o novo líder
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400800" y="96012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01968" y="1161288"/>
            <a:ext cx="480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C948"/>
                </a:solidFill>
              </a:rPr>
              <a:t>FALHA DA RÉPLICA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1408176"/>
            <a:ext cx="4809744" cy="0"/>
          </a:xfrm>
          <a:prstGeom prst="line">
            <a:avLst/>
          </a:prstGeom>
          <a:noFill/>
          <a:ln w="15240">
            <a:solidFill>
              <a:srgbClr val="F7C94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527048"/>
            <a:ext cx="480974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 continua funcionando
</a:t>
            </a:r>
            <a:r>
              <a:rPr lang="en-US" sz="126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indica modo degradado
</a:t>
            </a:r>
            <a:r>
              <a:rPr lang="en-US" sz="126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Retentativas usam backoff exponencial
</a:t>
            </a:r>
            <a:r>
              <a:rPr lang="en-US" sz="126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 entre 0,1 e 1,5 segundo
</a:t>
            </a:r>
            <a:r>
              <a:rPr lang="en-US" sz="126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 pode retornar e ressincronizar
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O sistema trata falhas crash-stop, crash-recovery e omissões temporárias. Três sondagens reduzem falso positivo. Se só a réplica cai, o jogo continua em modo degradado.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Retorno do nó e failback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Como o nó 10 volta sem perder a partida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25880" y="2587752"/>
            <a:ext cx="1252728" cy="0"/>
          </a:xfrm>
          <a:prstGeom prst="line">
            <a:avLst/>
          </a:prstGeom>
          <a:noFill/>
          <a:ln w="17780">
            <a:solidFill>
              <a:srgbClr val="7D90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54680" y="2587752"/>
            <a:ext cx="1252728" cy="0"/>
          </a:xfrm>
          <a:prstGeom prst="line">
            <a:avLst/>
          </a:prstGeom>
          <a:noFill/>
          <a:ln w="17780">
            <a:solidFill>
              <a:srgbClr val="7D90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0" y="2587752"/>
            <a:ext cx="1252728" cy="0"/>
          </a:xfrm>
          <a:prstGeom prst="line">
            <a:avLst/>
          </a:prstGeom>
          <a:noFill/>
          <a:ln w="17780">
            <a:solidFill>
              <a:srgbClr val="7D90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12280" y="2587752"/>
            <a:ext cx="1252728" cy="0"/>
          </a:xfrm>
          <a:prstGeom prst="line">
            <a:avLst/>
          </a:prstGeom>
          <a:noFill/>
          <a:ln w="17780">
            <a:solidFill>
              <a:srgbClr val="7D90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41080" y="2587752"/>
            <a:ext cx="1252728" cy="0"/>
          </a:xfrm>
          <a:prstGeom prst="line">
            <a:avLst/>
          </a:prstGeom>
          <a:noFill/>
          <a:ln w="17780">
            <a:solidFill>
              <a:srgbClr val="7D90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7C4D6"/>
                </a:solidFill>
              </a:rPr>
              <a:t>Consulta peers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591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7C4D6"/>
                </a:solidFill>
              </a:rPr>
              <a:t>Recupera snapshot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879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7C4D6"/>
                </a:solidFill>
              </a:rPr>
              <a:t>Observa maior termo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008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67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7C4D6"/>
                </a:solidFill>
              </a:rPr>
              <a:t>Inicia eleição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2296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58E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455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B7C4D6"/>
                </a:solidFill>
              </a:rPr>
              <a:t>Maior ID vence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0058400" y="2331720"/>
            <a:ext cx="566928" cy="566928"/>
          </a:xfrm>
          <a:prstGeom prst="ellipse">
            <a:avLst/>
          </a:prstGeom>
          <a:solidFill>
            <a:srgbClr val="0E2034"/>
          </a:solidFill>
          <a:ln w="15240">
            <a:solidFill>
              <a:srgbClr val="18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0" y="24871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AFC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74352" y="30906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7C4D6"/>
                </a:solidFill>
              </a:rPr>
              <a:t>Estado preservado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94360" y="3886199"/>
            <a:ext cx="11018520" cy="905251"/>
          </a:xfrm>
          <a:prstGeom prst="roundRect">
            <a:avLst>
              <a:gd name="adj" fmla="val 16000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" y="4087368"/>
            <a:ext cx="10616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PONTO CRÍTICO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5528" y="4334256"/>
            <a:ext cx="1061618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" y="4453127"/>
            <a:ext cx="10616184" cy="2468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nó 10 não reassume com estado vazio: primeiro sincroniza, depois disputa a liderança.
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94360" y="4983480"/>
            <a:ext cx="11018520" cy="1078992"/>
          </a:xfrm>
          <a:prstGeom prst="roundRect">
            <a:avLst>
              <a:gd name="adj" fmla="val 10169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5528" y="512978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795528" y="5349240"/>
            <a:ext cx="106161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B7C4D6"/>
                </a:solidFill>
              </a:rPr>
              <a:t>Quando o nó 10 retorna, ele busca o maior par de termo e versão disponível. Só depois inicia eleição. Como possui maior ID, volta a liderar sem apagar o estado existente.</a:t>
            </a:r>
            <a:endParaRPr lang="en-US" sz="12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Testes e metodologia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Validação automatizada e ensaios experimentais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16128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TESTES AUTOMATIZADOS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08176"/>
            <a:ext cx="503834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503834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Lamport
</a:t>
            </a: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Termos e versões
</a:t>
            </a: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estado antigo
</a:t>
            </a: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Rejeição de coordenador antigo
</a:t>
            </a: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
</a:t>
            </a:r>
            <a:r>
              <a:rPr lang="en-US" sz="124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Crash-recovery
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400800" y="96012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01968" y="1161288"/>
            <a:ext cx="480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ESTUDO EXPERIMENTAL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1408176"/>
            <a:ext cx="480974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527048"/>
            <a:ext cx="480974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Dois processos em localhost
</a:t>
            </a: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repetições completas
</a:t>
            </a: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abrupta do líder
</a:t>
            </a: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Verificação da preservação do jogador
</a:t>
            </a:r>
            <a:r>
              <a:rPr lang="en-US" sz="124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4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Medição do tempo até novo coordenador
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D5FF"/>
                </a:solidFill>
              </a:rPr>
              <a:t>RESUMO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A validação combina testes automatizados com ensaios práticos. O cenário principal inicia líder e réplica, insere um jogador, confirma replicação, derruba o líder e mede a retomada.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e demonstração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Evidências da preservação do estado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703320" cy="4069080"/>
          </a:xfrm>
          <a:prstGeom prst="roundRect">
            <a:avLst>
              <a:gd name="adj" fmla="val 2963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161288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RESULTADOS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08176"/>
            <a:ext cx="330098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330098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de 6 testes aprovados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 5 failovers aprovados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 em todos os ensaios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Replicação média: 0,0154 s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médio: 3,022 s
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81728" y="1161288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DEMONSTRAÇÃO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1728" y="1408176"/>
            <a:ext cx="284378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1527048"/>
            <a:ext cx="284378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líder 10 e réplica 5
</a:t>
            </a:r>
            <a:r>
              <a:rPr lang="en-US" sz="11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Movimentar o jogador
</a:t>
            </a:r>
            <a:r>
              <a:rPr lang="en-US" sz="11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Derrubar o nó 10
</a:t>
            </a:r>
            <a:r>
              <a:rPr lang="en-US" sz="116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6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nó 5 assumindo
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909560" y="960120"/>
            <a:ext cx="3703320" cy="4069080"/>
          </a:xfrm>
          <a:prstGeom prst="roundRect">
            <a:avLst>
              <a:gd name="adj" fmla="val 2963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10728" y="1161288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C948"/>
                </a:solidFill>
              </a:rPr>
              <a:t>RETORNO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10728" y="1408176"/>
            <a:ext cx="3300984" cy="0"/>
          </a:xfrm>
          <a:prstGeom prst="line">
            <a:avLst/>
          </a:prstGeom>
          <a:noFill/>
          <a:ln w="15240">
            <a:solidFill>
              <a:srgbClr val="F7C94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10728" y="1527048"/>
            <a:ext cx="330098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Reiniciar o nó 10
</a:t>
            </a:r>
            <a:r>
              <a:rPr lang="en-US" sz="120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sincronização
</a:t>
            </a:r>
            <a:r>
              <a:rPr lang="en-US" sz="120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failback
</a:t>
            </a:r>
            <a:r>
              <a:rPr lang="en-US" sz="1200" b="1" dirty="0">
                <a:solidFill>
                  <a:srgbClr val="F7C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continuidade da partida
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8D5FF"/>
                </a:solidFill>
              </a:rPr>
              <a:t>RESUMO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A mensagem principal é: todos os testes passaram, a partida não reinicia e o estado do jogador é preservado. A demonstração mostra queda do líder, posse do nó 5 e retorno sincronizado do nó 10.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 e melhorias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90A5"/>
                </a:solidFill>
              </a:rPr>
              <a:t>Síntese da segunda entrega e próximos passos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161288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E6A7"/>
                </a:solidFill>
              </a:rPr>
              <a:t>CONCLUSÃO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08176"/>
            <a:ext cx="5038344" cy="0"/>
          </a:xfrm>
          <a:prstGeom prst="line">
            <a:avLst/>
          </a:prstGeom>
          <a:noFill/>
          <a:ln w="15240">
            <a:solidFill>
              <a:srgbClr val="58E6A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503834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automático e reproduzível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preservado durante a troca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Réplicas observáveis por métricas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documentado conforme o código
</a:t>
            </a:r>
            <a:r>
              <a:rPr lang="en-US" sz="1230" b="1" dirty="0">
                <a:solidFill>
                  <a:srgbClr val="58E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Termos e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versões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evitam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coordenadores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antigos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regressões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30" dirty="0" err="1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
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400800" y="96012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0F1B2A"/>
          </a:solidFill>
          <a:ln w="12700">
            <a:solidFill>
              <a:srgbClr val="2A4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01968" y="1161288"/>
            <a:ext cx="4809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D5FF"/>
                </a:solidFill>
              </a:rPr>
              <a:t>MELHORIAS FUTURAS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01968" y="1408176"/>
            <a:ext cx="4809744" cy="0"/>
          </a:xfrm>
          <a:prstGeom prst="line">
            <a:avLst/>
          </a:prstGeom>
          <a:noFill/>
          <a:ln w="15240">
            <a:solidFill>
              <a:srgbClr val="18D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527048"/>
            <a:ext cx="480974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nós e quorum
</a:t>
            </a:r>
            <a:r>
              <a:rPr lang="en-US" sz="123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em disco
</a:t>
            </a:r>
            <a:r>
              <a:rPr lang="en-US" sz="123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incremental
</a:t>
            </a:r>
            <a:r>
              <a:rPr lang="en-US" sz="123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de partição e latência
</a:t>
            </a:r>
            <a:r>
              <a:rPr lang="en-US" sz="1230" b="1" dirty="0">
                <a:solidFill>
                  <a:srgbClr val="18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3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TLS
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94360" y="5248656"/>
            <a:ext cx="11018520" cy="987552"/>
          </a:xfrm>
          <a:prstGeom prst="roundRect">
            <a:avLst>
              <a:gd name="adj" fmla="val 11111"/>
            </a:avLst>
          </a:prstGeom>
          <a:solidFill>
            <a:srgbClr val="0C2030"/>
          </a:solidFill>
          <a:ln w="12700">
            <a:solidFill>
              <a:srgbClr val="1E5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5394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b="1" dirty="0">
                <a:solidFill>
                  <a:srgbClr val="18D5FF"/>
                </a:solidFill>
              </a:rPr>
              <a:t>R</a:t>
            </a:r>
            <a:r>
              <a:rPr lang="en-US" sz="780" b="1" dirty="0">
                <a:solidFill>
                  <a:srgbClr val="18D5FF"/>
                </a:solidFill>
              </a:rPr>
              <a:t>ESUMO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95528" y="5614416"/>
            <a:ext cx="106161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B7C4D6"/>
                </a:solidFill>
              </a:rPr>
              <a:t>A segunda entrega tornou falhas observáveis e reproduzíveis. Termos impedem líderes antigos; versões impedem regressões; ACKs mostram a saúde das réplicas. Reservar cerca de 30 segundos para perguntas.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D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1531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Jogo de Corrida Distribuído — Falhas e Réplicas</dc:title>
  <dc:subject>Jogo de Corrida Distribuído — versão com roteiro rápido</dc:subject>
  <dc:creator>OpenAI</dc:creator>
  <cp:lastModifiedBy>Pedro Gaioso</cp:lastModifiedBy>
  <cp:revision>8</cp:revision>
  <dcterms:created xsi:type="dcterms:W3CDTF">2026-06-30T01:35:26Z</dcterms:created>
  <dcterms:modified xsi:type="dcterms:W3CDTF">2026-06-30T02:05:54Z</dcterms:modified>
</cp:coreProperties>
</file>