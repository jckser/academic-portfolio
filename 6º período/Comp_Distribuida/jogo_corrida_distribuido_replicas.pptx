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segundos
Nosso projeto é um jogo de corrida multiplayer cuja partida é mantida por um cluster de servidores. Nesta segunda etapa, concentramos o trabalho no tratamento de falhas e no controle de réplicas.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
Em um jogo centralizado, a queda do servidor encerra imediatamente a partida. Nosso objetivo foi manter o jogo funcionando mesmo quando o líder falha, utilizando réplicas atualizadas e eleição automática de um novo coordenador.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segundos
O cliente captura os comandos e renderiza os snapshots. O líder é o único servidor que altera o mundo. Os seguidores recebem cópias completas do estado e ficam preparados para assumir. A comunicação de rede do cliente ocorre em uma thread separada para não bloquear a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
No primeiro relatório chamamos a comunicação de RPC próprio. A descrição tecnicamente correta é protocolo requisição-resposta JSON sobre TCP, pois não existem stubs, IDL ou geração de interfaces. Entre os servidores utilizamos Lamport para ordenação lógica. Para eleição utilizamos Bully, no qual o maior ID alcançável 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
Cada snapshot possui líder, termo, versão e estado completo do jogo. O termo identifica uma geração de liderança e impede que um líder antigo volte a sobrescrever o estado. A versão impede regressão dentro do mesmo termo. Cada seguidor responde com a última versão aplicada.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
O sistema trata falhas crash-stop, crash-recovery e omissões temporárias. Exigimos três sondagens para evitar eleições provocadas por uma única oscilação. Quando uma réplica cai, a física continua e as tentativas passam a utilizar backoff entre 0,1 e 1,5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
Quando o nó 10 retorna, ele não deve assumir com um estado vazio. Primeiro recupera o maior par de termo e versão disponível. Depois inicia a eleição. Como possui maior ID, volta a liderar. Esse comportamento é esperado no algoritmo Bully e representa o failback.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segundos
Criamos seis testes automatizados, incluindo um teste de integração com processos reais. Também executamos cinco ensaios completos: iniciamos líder e réplica, inserimos um jogador, confirmamos a replicação, derrubamos o líder e medimos até o novo coordenador assumir.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e 50 segundos
Todos os testes passaram e o estado foi preservado nas cinco repetições. Agora mostramos o funcionamento: primeiro o nó 10 lidera; após sua queda, o nó 5 assume sem reiniciar a partida. Quando o nó 10 retorna conectado ao cluster, sincroniza o estado e volta a liderar.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segundos
A segunda entrega tornou o tratamento de falhas observável e reproduzível. Termos impedem líderes antigos, versões impedem regressões e ACKs mostram a saúde das réplicas. Como próximos passos, pretendemos utilizar três nós com quorum, persistência e testes em redes reais.
Ao final, reservar aproximadamente 30 segundos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Jogo de Corrida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Distribuído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94944" y="23042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Tratamento de Falhas e Controle de Réplicas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290779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8CBD9"/>
                </a:solidFill>
              </a:rPr>
              <a:t>Computação Distribuída • Integrantes do grupo • PUC Minas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07808" y="1097280"/>
            <a:ext cx="1261872" cy="713232"/>
          </a:xfrm>
          <a:prstGeom prst="rect">
            <a:avLst/>
          </a:prstGeom>
          <a:solidFill>
            <a:srgbClr val="0E2236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Pygame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0" y="841248"/>
            <a:ext cx="1261872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0" y="1993392"/>
            <a:ext cx="1261872" cy="71323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87968" y="1444752"/>
            <a:ext cx="694944" cy="-237744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222992" y="1609344"/>
            <a:ext cx="0" cy="36576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4434840"/>
            <a:ext cx="3474720" cy="41148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480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827"/>
                </a:solidFill>
              </a:rPr>
              <a:t>60 Hz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0" y="44805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827"/>
                </a:solidFill>
              </a:rPr>
              <a:t>snapshots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5623560"/>
            <a:ext cx="2011680" cy="329184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9 min + perguntas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 objetivo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89204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do servidor interrompe a partida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Jogadores precisam observar o mesmo estado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 podem chegar em ordens diferentes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precisa continuar após falhas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956048"/>
            <a:ext cx="48920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a partida disponível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o estado durante a troca de líder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1252728"/>
            <a:ext cx="1371600" cy="71323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74736" y="1426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falha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9288" y="1609344"/>
            <a:ext cx="1216152" cy="0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326880" y="1252728"/>
            <a:ext cx="1554480" cy="713232"/>
          </a:xfrm>
          <a:prstGeom prst="rect">
            <a:avLst/>
          </a:prstGeom>
          <a:solidFill>
            <a:srgbClr val="3A1218"/>
          </a:solidFill>
          <a:ln w="12700">
            <a:solidFill>
              <a:srgbClr val="EF444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interrompida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3054096"/>
            <a:ext cx="4434840" cy="0"/>
          </a:xfrm>
          <a:prstGeom prst="line">
            <a:avLst/>
          </a:prstGeom>
          <a:noFill/>
          <a:ln w="12700">
            <a:solidFill>
              <a:srgbClr val="234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749040"/>
            <a:ext cx="118872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749040"/>
            <a:ext cx="1188720" cy="56692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6960" y="3749040"/>
            <a:ext cx="1188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26680" y="4032504"/>
            <a:ext cx="448056" cy="0"/>
          </a:xfrm>
          <a:prstGeom prst="line">
            <a:avLst/>
          </a:prstGeom>
          <a:noFill/>
          <a:ln w="1778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4032504"/>
            <a:ext cx="448056" cy="0"/>
          </a:xfrm>
          <a:prstGeom prst="line">
            <a:avLst/>
          </a:prstGeom>
          <a:noFill/>
          <a:ln w="1778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60920" y="4800600"/>
            <a:ext cx="1691640" cy="310896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4800600"/>
            <a:ext cx="2011680" cy="31089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60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965960" cy="566928"/>
          </a:xfrm>
          <a:prstGeom prst="rect">
            <a:avLst/>
          </a:prstGeom>
          <a:solidFill>
            <a:srgbClr val="0E2236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Pygame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1600200"/>
            <a:ext cx="164592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 líder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1600200"/>
            <a:ext cx="1965960" cy="56692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Nós seguidores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1883664"/>
            <a:ext cx="1581912" cy="0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44768" y="1883664"/>
            <a:ext cx="1700784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127248" y="15727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BD9"/>
                </a:solidFill>
              </a:rPr>
              <a:t>comandos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65392" y="15727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BD9"/>
                </a:solidFill>
              </a:rPr>
              <a:t>snapshots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310128"/>
            <a:ext cx="566928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 executa a física a 60 Hz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aproximadamente 15 vezes por segundo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permanecem em hot standby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reconecta automaticamente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60920" y="3246120"/>
            <a:ext cx="1737360" cy="310896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de rede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08592" y="3246120"/>
            <a:ext cx="1508760" cy="310896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renderização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25712" y="3401568"/>
            <a:ext cx="146304" cy="0"/>
          </a:xfrm>
          <a:prstGeom prst="line">
            <a:avLst/>
          </a:prstGeom>
          <a:noFill/>
          <a:ln w="13970">
            <a:solidFill>
              <a:srgbClr val="B8CBD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315200" y="3986784"/>
            <a:ext cx="1325880" cy="62179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3986784"/>
            <a:ext cx="1325880" cy="62179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0" y="3986784"/>
            <a:ext cx="1143000" cy="62179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desenha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0" y="4297680"/>
            <a:ext cx="18288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68712" y="4297680"/>
            <a:ext cx="201168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Comunicação, Lamport e Bully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de comunicação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07492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Requisição-resposta próprio sobre TCP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 JSON delimitadas por quebra de linha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para correlacionar requisições e respostas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é RPC convencional nem gRPC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Algoritmos da primeira etapa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Relógio lógico de Lamport entre servidores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Eleição de líder pelo algoritmo Bully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315200" y="1143000"/>
            <a:ext cx="1554480" cy="603504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0" y="1143000"/>
            <a:ext cx="1554480" cy="603504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444752"/>
            <a:ext cx="27432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2148840"/>
            <a:ext cx="3474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685032"/>
            <a:ext cx="160020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ordenação lógica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685032"/>
            <a:ext cx="160020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ID vence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52360" y="4846320"/>
            <a:ext cx="1143000" cy="29260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stubs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7968" y="4846320"/>
            <a:ext cx="960120" cy="29260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IDL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04120" y="4846320"/>
            <a:ext cx="1051560" cy="29260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gRPC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de réplicas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 escolhido na segunda entrega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4846320" cy="3246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primário-réplica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de liderança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monotônica do estado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com versão aplicada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snapshots antigos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Ressincronização após retorno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92240" y="1234440"/>
            <a:ext cx="43891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896112" cy="438912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2011680"/>
            <a:ext cx="896112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2011680"/>
            <a:ext cx="89611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04120" y="2011680"/>
            <a:ext cx="8961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2770632"/>
            <a:ext cx="0" cy="566928"/>
          </a:xfrm>
          <a:prstGeom prst="line">
            <a:avLst/>
          </a:prstGeom>
          <a:noFill/>
          <a:ln w="1651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635240" y="3419856"/>
            <a:ext cx="2103120" cy="676656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 aplica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confirma 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0" y="4142232"/>
            <a:ext cx="0" cy="448056"/>
          </a:xfrm>
          <a:prstGeom prst="line">
            <a:avLst/>
          </a:prstGeom>
          <a:noFill/>
          <a:ln w="1651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720840" y="4663440"/>
            <a:ext cx="1874520" cy="658368"/>
          </a:xfrm>
          <a:prstGeom prst="rect">
            <a:avLst/>
          </a:prstGeom>
          <a:solidFill>
            <a:srgbClr val="3A1218"/>
          </a:solidFill>
          <a:ln w="12700">
            <a:solidFill>
              <a:srgbClr val="EF444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menor?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antiga?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0" y="4663440"/>
            <a:ext cx="132588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Rejeitar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41080" y="4992624"/>
            <a:ext cx="466344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Tratamento de falhas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 do líder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02920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Watchdog realiza sondagens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falhas consecutivas confirmam a suspeita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eleição Bully é iniciada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 assume a liderança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encontra o novo líder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99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 da réplica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956048"/>
            <a:ext cx="502920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 continua funcionando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indica modo degradado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Retentativas usam backoff exponencial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960120" cy="731520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sondar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1417320"/>
            <a:ext cx="960120" cy="731520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suspeitar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0" y="1417320"/>
            <a:ext cx="960120" cy="731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44200" y="1417320"/>
            <a:ext cx="96012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16368" y="1783080"/>
            <a:ext cx="347472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24544" y="1783080"/>
            <a:ext cx="356616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51008" y="1783080"/>
            <a:ext cx="347472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12280" y="2743200"/>
            <a:ext cx="2423160" cy="31089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falhas consecutivas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2148840" cy="310896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 0,1 s → 1,5 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1353312" cy="457200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Crash-stop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977640"/>
            <a:ext cx="1554480" cy="457200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Crash-recovery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49840" y="3886200"/>
            <a:ext cx="1508760" cy="640080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Omissões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temporárias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Retorno do nó e failback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do nó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521208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os peers ativos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 o snapshot mais recente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o maior termo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 uma nova eleição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 a liderar por possuir maior ID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da partida é preservado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92240" y="1280160"/>
            <a:ext cx="1371600" cy="65836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 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280160"/>
            <a:ext cx="1371600" cy="65836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280160"/>
            <a:ext cx="137160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9560" y="1609344"/>
            <a:ext cx="27432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46920" y="1609344"/>
            <a:ext cx="27432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492240" y="2962656"/>
            <a:ext cx="1371600" cy="65836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962656"/>
            <a:ext cx="13716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Eleição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0" y="2962656"/>
            <a:ext cx="137160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Failback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652760" y="1993392"/>
            <a:ext cx="0" cy="91440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3291840"/>
            <a:ext cx="27432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46920" y="3291840"/>
            <a:ext cx="274320" cy="0"/>
          </a:xfrm>
          <a:prstGeom prst="line">
            <a:avLst/>
          </a:prstGeom>
          <a:noFill/>
          <a:ln w="1524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040880" y="4636008"/>
            <a:ext cx="1645920" cy="310896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assume vazio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4636008"/>
            <a:ext cx="1920240" cy="31089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Testes e metodologia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automatizados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434840" cy="3429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Lamport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Termos e versões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estado antigo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coordenador antigo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Crash-recovery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46520" y="1051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experimental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417320"/>
            <a:ext cx="452628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Dois processos em localhost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repetições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abrupta do líder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Verificação da preservação do jogador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Lamport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5166360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Termos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5166360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Estado antigo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733288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Coord. antigo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5733288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Failover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5733288"/>
            <a:ext cx="1691640" cy="365760"/>
          </a:xfrm>
          <a:prstGeom prst="rect">
            <a:avLst/>
          </a:prstGeom>
          <a:solidFill>
            <a:srgbClr val="0E2236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Recovery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5010912"/>
            <a:ext cx="1554480" cy="658368"/>
          </a:xfrm>
          <a:prstGeom prst="rect">
            <a:avLst/>
          </a:prstGeom>
          <a:solidFill>
            <a:srgbClr val="0E2236"/>
          </a:solidFill>
          <a:ln w="12700">
            <a:solidFill>
              <a:srgbClr val="2344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processos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89720" y="5010912"/>
            <a:ext cx="128016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5340096"/>
            <a:ext cx="182880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e demonstração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 50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32588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de 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1508760"/>
            <a:ext cx="132588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 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1508760"/>
            <a:ext cx="160020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779776"/>
            <a:ext cx="18745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0,0154 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replicação média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779776"/>
            <a:ext cx="187452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3,022 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médio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417320"/>
            <a:ext cx="4892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líder 10 e réplica 5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Movimentar o jogador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Derrubar o nó 10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o nó 5 assumindo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Reiniciar o nó 10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sincronização e failback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537960" y="5257800"/>
            <a:ext cx="123444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lidera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5257800"/>
            <a:ext cx="123444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assume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12680" y="5257800"/>
            <a:ext cx="12344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volta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5458968"/>
            <a:ext cx="411480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5458968"/>
            <a:ext cx="411480" cy="0"/>
          </a:xfrm>
          <a:prstGeom prst="line">
            <a:avLst/>
          </a:prstGeom>
          <a:noFill/>
          <a:ln w="13970">
            <a:solidFill>
              <a:srgbClr val="67E8F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Distribuída • Tratamento de Falhas e Réplicas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 e melhorias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92640" y="356616"/>
            <a:ext cx="1737360" cy="292608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98348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automático e reproduzível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 durante a troca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Réplicas observáveis por métricas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documentado conforme o código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Melhorias futuras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475488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nós e quorum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em disco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incremental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de partição e latência</a:t>
            </a:r>
            <a:endParaRPr lang="en-US" sz="1850" dirty="0"/>
          </a:p>
          <a:p>
            <a:pPr marL="152400" indent="-152400">
              <a:buSzPct val="100000"/>
              <a:buChar char="•"/>
            </a:pPr>
            <a:r>
              <a:rPr lang="en-US" sz="1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TLS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60120" y="4919472"/>
            <a:ext cx="118872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4919472"/>
            <a:ext cx="118872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versões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4919472"/>
            <a:ext cx="1188720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4983480"/>
            <a:ext cx="2606040" cy="36576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 finais para perguntas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64040" y="4983480"/>
            <a:ext cx="1691640" cy="3657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partida disponível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EE7F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Jogo de Corrida Distribuído — Tratamento de Falhas e Controle de Réplicas</dc:title>
  <dc:subject>Computação Distribuída</dc:subject>
  <dc:creator>OpenAI</dc:creator>
  <cp:lastModifiedBy>OpenAI</cp:lastModifiedBy>
  <cp:revision>1</cp:revision>
  <dcterms:created xsi:type="dcterms:W3CDTF">2026-06-29T23:10:16Z</dcterms:created>
  <dcterms:modified xsi:type="dcterms:W3CDTF">2026-06-29T23:10:16Z</dcterms:modified>
</cp:coreProperties>
</file>